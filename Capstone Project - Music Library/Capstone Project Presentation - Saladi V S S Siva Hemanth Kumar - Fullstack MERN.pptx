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World" charset="1" panose="020B0500040000020004"/>
      <p:regular r:id="rId15"/>
    </p:embeddedFont>
    <p:embeddedFont>
      <p:font typeface="Georgia Pro Condensed" charset="1" panose="02040506050405020303"/>
      <p:regular r:id="rId16"/>
    </p:embeddedFont>
    <p:embeddedFont>
      <p:font typeface="Helvetica World Bold" charset="1" panose="020B080004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mailto:hemanthsaladi2004@gmail.com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2D365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43332" y="491387"/>
            <a:ext cx="5753100" cy="9291527"/>
            <a:chOff x="0" y="0"/>
            <a:chExt cx="814724" cy="13158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315818"/>
            </a:xfrm>
            <a:custGeom>
              <a:avLst/>
              <a:gdLst/>
              <a:ahLst/>
              <a:cxnLst/>
              <a:rect r="r" b="b" t="t" l="l"/>
              <a:pathLst>
                <a:path h="1315818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88904"/>
                  </a:lnTo>
                  <a:cubicBezTo>
                    <a:pt x="814724" y="1303768"/>
                    <a:pt x="802675" y="1315818"/>
                    <a:pt x="787810" y="1315818"/>
                  </a:cubicBezTo>
                  <a:lnTo>
                    <a:pt x="26914" y="1315818"/>
                  </a:lnTo>
                  <a:cubicBezTo>
                    <a:pt x="12050" y="1315818"/>
                    <a:pt x="0" y="1303768"/>
                    <a:pt x="0" y="1288904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407" r="0" b="-540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5380" y="8761834"/>
            <a:ext cx="4714999" cy="102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31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Saladi V S S Siva Hemanth Kumar  </a:t>
            </a:r>
            <a:r>
              <a:rPr lang="en-US" sz="2100" spc="-31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5" tooltip="mailto:hemanthsaladi2004@gmail.com"/>
              </a:rPr>
              <a:t>Hemanthsaladi2004@gmail.com</a:t>
            </a:r>
            <a:r>
              <a:rPr lang="en-US" sz="2100" spc="-31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0" indent="0" lvl="0">
              <a:lnSpc>
                <a:spcPts val="2730"/>
              </a:lnSpc>
            </a:pPr>
            <a:r>
              <a:rPr lang="en-US" sz="2100" spc="-31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WIPRO NGA - MERN - FY26 - Cohort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5380" y="927443"/>
            <a:ext cx="9754495" cy="333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756"/>
              </a:lnSpc>
            </a:pPr>
            <a:r>
              <a:rPr lang="en-US" sz="12756" spc="-446" strike="noStrike" u="none">
                <a:solidFill>
                  <a:srgbClr val="F5F5F5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Minstrel - Music Library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5380" y="4463079"/>
            <a:ext cx="3660234" cy="80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31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 Guidance of -</a:t>
            </a:r>
          </a:p>
          <a:p>
            <a:pPr algn="l" marL="0" indent="0" lvl="0">
              <a:lnSpc>
                <a:spcPts val="3380"/>
              </a:lnSpc>
            </a:pPr>
            <a:r>
              <a:rPr lang="en-US" b="true" sz="2600" spc="-39">
                <a:solidFill>
                  <a:srgbClr val="D1D9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Prof. Abhishek Sharma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D3655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524586" y="1885965"/>
            <a:ext cx="9035706" cy="4077993"/>
          </a:xfrm>
          <a:custGeom>
            <a:avLst/>
            <a:gdLst/>
            <a:ahLst/>
            <a:cxnLst/>
            <a:rect r="r" b="b" t="t" l="l"/>
            <a:pathLst>
              <a:path h="4077993" w="9035706">
                <a:moveTo>
                  <a:pt x="0" y="0"/>
                </a:moveTo>
                <a:lnTo>
                  <a:pt x="9035706" y="0"/>
                </a:lnTo>
                <a:lnTo>
                  <a:pt x="9035706" y="4077993"/>
                </a:lnTo>
                <a:lnTo>
                  <a:pt x="0" y="4077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31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00225" y="1080160"/>
            <a:ext cx="13249275" cy="61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0"/>
              </a:lnSpc>
            </a:pPr>
            <a:r>
              <a:rPr lang="en-US" sz="3700" spc="-111">
                <a:solidFill>
                  <a:srgbClr val="F5F5F5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 Functionalities for Users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00225" y="6472344"/>
            <a:ext cx="14484428" cy="2409923"/>
            <a:chOff x="0" y="0"/>
            <a:chExt cx="19312571" cy="32132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578521" cy="546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5F5F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Login and Registration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48041"/>
              <a:ext cx="5578521" cy="2365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1D9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Users can easily </a:t>
              </a:r>
              <a:r>
                <a:rPr lang="en-US" b="true" sz="2000" spc="-30" strike="noStrike" u="none">
                  <a:solidFill>
                    <a:srgbClr val="D1D9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register</a:t>
              </a:r>
              <a:r>
                <a:rPr lang="en-US" sz="2000" spc="-30" strike="noStrike" u="none">
                  <a:solidFill>
                    <a:srgbClr val="D1D9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log into the application, ensuring personalized access to their music library and playlists while maintaining a secure environment for their data.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775794" y="74791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5F5F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Songs List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775794" y="848041"/>
              <a:ext cx="5346700" cy="2319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1D9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comprehensive list of songs is available for users to browse, with detailed information about each track, including artist names, albums, and playtime.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4205853" y="9525"/>
              <a:ext cx="5106718" cy="546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5F5F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Search Functionality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205853" y="848041"/>
              <a:ext cx="5106718" cy="1849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1D9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Users can effortlessly search for songs by artist, album, or director, making it simple to locate their favorite tracks quickly.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D3655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352001" y="2462608"/>
            <a:ext cx="9803776" cy="5661681"/>
          </a:xfrm>
          <a:custGeom>
            <a:avLst/>
            <a:gdLst/>
            <a:ahLst/>
            <a:cxnLst/>
            <a:rect r="r" b="b" t="t" l="l"/>
            <a:pathLst>
              <a:path h="5661681" w="9803776">
                <a:moveTo>
                  <a:pt x="0" y="0"/>
                </a:moveTo>
                <a:lnTo>
                  <a:pt x="9803775" y="0"/>
                </a:lnTo>
                <a:lnTo>
                  <a:pt x="9803775" y="5661681"/>
                </a:lnTo>
                <a:lnTo>
                  <a:pt x="0" y="56616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3025" y="942975"/>
            <a:ext cx="12944475" cy="1228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50"/>
              </a:lnSpc>
            </a:pPr>
            <a:r>
              <a:rPr lang="en-US" sz="7500" spc="-225">
                <a:solidFill>
                  <a:srgbClr val="F5F5F5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Admin Capabilities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025" y="2880985"/>
            <a:ext cx="5492041" cy="4355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dd </a:t>
            </a: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</a:t>
            </a: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 so</a:t>
            </a: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gs to the music library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delete songs from the library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add new artists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manage the complete song database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control song visibility for users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view statistics / dashboard data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upload multiple songs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Admin has protected access using JWT authentication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5F5F5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Technologies Used in the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4418985"/>
            <a:ext cx="6886575" cy="483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</a:t>
            </a:r>
            <a:r>
              <a:rPr lang="en-US" b="true" sz="2499" spc="-37" strike="noStrike" u="none">
                <a:solidFill>
                  <a:srgbClr val="D1D9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Minstrel Music Library</a:t>
            </a: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utilizes the MERN stack, comprising </a:t>
            </a:r>
          </a:p>
          <a:p>
            <a:pPr algn="l" marL="0" indent="0" lvl="0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MongoDB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Express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React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Node.js </a:t>
            </a:r>
          </a:p>
          <a:p>
            <a:pPr algn="l">
              <a:lnSpc>
                <a:spcPts val="3499"/>
              </a:lnSpc>
            </a:pP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 seamless development, enabling efficient data management, user interface creation, and robust backend functionality for a dynamic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5844" t="0" r="-5844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497126"/>
            <a:ext cx="6886575" cy="298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  <a:spcBef>
                <a:spcPct val="0"/>
              </a:spcBef>
            </a:pPr>
            <a:r>
              <a:rPr lang="en-US" sz="7700" strike="noStrike" u="none">
                <a:solidFill>
                  <a:srgbClr val="F5F5F5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Database Schema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4159964"/>
            <a:ext cx="6886575" cy="546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database schema consists of essential collections 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37" strike="noStrike" u="none">
                <a:solidFill>
                  <a:srgbClr val="D1D9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Album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37" strike="noStrike" u="none">
                <a:solidFill>
                  <a:srgbClr val="D1D9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Artist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37" strike="noStrike" u="none">
                <a:solidFill>
                  <a:srgbClr val="D1D9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Playlist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37" strike="noStrike" u="none">
                <a:solidFill>
                  <a:srgbClr val="D1D9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Song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37" strike="noStrike" u="none">
                <a:solidFill>
                  <a:srgbClr val="D1D9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User</a:t>
            </a:r>
          </a:p>
          <a:p>
            <a:pPr algn="l" marL="0" indent="0" lvl="0">
              <a:lnSpc>
                <a:spcPts val="3499"/>
              </a:lnSpc>
            </a:pP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structured organization enables efficient data management and supports the application's core functionalities.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66549" t="0" r="-6579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781050"/>
            <a:ext cx="6886575" cy="168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6500" strike="noStrike" u="none">
                <a:solidFill>
                  <a:srgbClr val="F5F5F5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System Architecture and Flow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14355"/>
            <a:ext cx="6462704" cy="1726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eact → Frontend UI, user interacts with app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Node.js → Runtime environment for backend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Express.js → Handles API requests and routing</a:t>
            </a:r>
          </a:p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MongoDB → Stores and retrieves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289066"/>
            <a:ext cx="6462704" cy="216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eact sends request to backend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Node runs the backend server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Express handles API route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MongoDB stores / fetches data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Response goes back to React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37911" y="5448625"/>
            <a:ext cx="4283339" cy="2390937"/>
            <a:chOff x="0" y="0"/>
            <a:chExt cx="1029283" cy="5745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283" cy="574541"/>
            </a:xfrm>
            <a:custGeom>
              <a:avLst/>
              <a:gdLst/>
              <a:ahLst/>
              <a:cxnLst/>
              <a:rect r="r" b="b" t="t" l="l"/>
              <a:pathLst>
                <a:path h="574541" w="1029283">
                  <a:moveTo>
                    <a:pt x="36149" y="0"/>
                  </a:moveTo>
                  <a:lnTo>
                    <a:pt x="993134" y="0"/>
                  </a:lnTo>
                  <a:cubicBezTo>
                    <a:pt x="1002722" y="0"/>
                    <a:pt x="1011916" y="3809"/>
                    <a:pt x="1018696" y="10588"/>
                  </a:cubicBezTo>
                  <a:cubicBezTo>
                    <a:pt x="1025475" y="17367"/>
                    <a:pt x="1029283" y="26562"/>
                    <a:pt x="1029283" y="36149"/>
                  </a:cubicBezTo>
                  <a:lnTo>
                    <a:pt x="1029283" y="538392"/>
                  </a:lnTo>
                  <a:cubicBezTo>
                    <a:pt x="1029283" y="547979"/>
                    <a:pt x="1025475" y="557174"/>
                    <a:pt x="1018696" y="563953"/>
                  </a:cubicBezTo>
                  <a:cubicBezTo>
                    <a:pt x="1011916" y="570732"/>
                    <a:pt x="1002722" y="574541"/>
                    <a:pt x="993134" y="574541"/>
                  </a:cubicBezTo>
                  <a:lnTo>
                    <a:pt x="36149" y="574541"/>
                  </a:lnTo>
                  <a:cubicBezTo>
                    <a:pt x="26562" y="574541"/>
                    <a:pt x="17367" y="570732"/>
                    <a:pt x="10588" y="563953"/>
                  </a:cubicBezTo>
                  <a:cubicBezTo>
                    <a:pt x="3809" y="557174"/>
                    <a:pt x="0" y="547979"/>
                    <a:pt x="0" y="538392"/>
                  </a:cubicBezTo>
                  <a:lnTo>
                    <a:pt x="0" y="36149"/>
                  </a:lnTo>
                  <a:cubicBezTo>
                    <a:pt x="0" y="26562"/>
                    <a:pt x="3809" y="17367"/>
                    <a:pt x="10588" y="10588"/>
                  </a:cubicBezTo>
                  <a:cubicBezTo>
                    <a:pt x="17367" y="3809"/>
                    <a:pt x="26562" y="0"/>
                    <a:pt x="3614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1" r="0" b="-16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728998" y="5448625"/>
            <a:ext cx="4283339" cy="2392002"/>
            <a:chOff x="0" y="0"/>
            <a:chExt cx="1029283" cy="5747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9283" cy="574796"/>
            </a:xfrm>
            <a:custGeom>
              <a:avLst/>
              <a:gdLst/>
              <a:ahLst/>
              <a:cxnLst/>
              <a:rect r="r" b="b" t="t" l="l"/>
              <a:pathLst>
                <a:path h="574796" w="1029283">
                  <a:moveTo>
                    <a:pt x="36149" y="0"/>
                  </a:moveTo>
                  <a:lnTo>
                    <a:pt x="993134" y="0"/>
                  </a:lnTo>
                  <a:cubicBezTo>
                    <a:pt x="1002722" y="0"/>
                    <a:pt x="1011916" y="3809"/>
                    <a:pt x="1018696" y="10588"/>
                  </a:cubicBezTo>
                  <a:cubicBezTo>
                    <a:pt x="1025475" y="17367"/>
                    <a:pt x="1029283" y="26562"/>
                    <a:pt x="1029283" y="36149"/>
                  </a:cubicBezTo>
                  <a:lnTo>
                    <a:pt x="1029283" y="538647"/>
                  </a:lnTo>
                  <a:cubicBezTo>
                    <a:pt x="1029283" y="548235"/>
                    <a:pt x="1025475" y="557429"/>
                    <a:pt x="1018696" y="564209"/>
                  </a:cubicBezTo>
                  <a:cubicBezTo>
                    <a:pt x="1011916" y="570988"/>
                    <a:pt x="1002722" y="574796"/>
                    <a:pt x="993134" y="574796"/>
                  </a:cubicBezTo>
                  <a:lnTo>
                    <a:pt x="36149" y="574796"/>
                  </a:lnTo>
                  <a:cubicBezTo>
                    <a:pt x="26562" y="574796"/>
                    <a:pt x="17367" y="570988"/>
                    <a:pt x="10588" y="564209"/>
                  </a:cubicBezTo>
                  <a:cubicBezTo>
                    <a:pt x="3809" y="557429"/>
                    <a:pt x="0" y="548235"/>
                    <a:pt x="0" y="538647"/>
                  </a:cubicBezTo>
                  <a:lnTo>
                    <a:pt x="0" y="36149"/>
                  </a:lnTo>
                  <a:cubicBezTo>
                    <a:pt x="0" y="26562"/>
                    <a:pt x="3809" y="17367"/>
                    <a:pt x="10588" y="10588"/>
                  </a:cubicBezTo>
                  <a:cubicBezTo>
                    <a:pt x="17367" y="3809"/>
                    <a:pt x="26562" y="0"/>
                    <a:pt x="3614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46" r="0" b="-1146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D3655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6750" y="723900"/>
            <a:ext cx="5753100" cy="430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15"/>
              </a:lnSpc>
            </a:pPr>
            <a:r>
              <a:rPr lang="en-US" sz="7650" spc="-229">
                <a:solidFill>
                  <a:srgbClr val="F5F5F5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Authentication: User and Admin Login Interfaces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28998" y="666750"/>
            <a:ext cx="4283339" cy="2500140"/>
            <a:chOff x="0" y="0"/>
            <a:chExt cx="1029283" cy="600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9283" cy="600782"/>
            </a:xfrm>
            <a:custGeom>
              <a:avLst/>
              <a:gdLst/>
              <a:ahLst/>
              <a:cxnLst/>
              <a:rect r="r" b="b" t="t" l="l"/>
              <a:pathLst>
                <a:path h="600782" w="1029283">
                  <a:moveTo>
                    <a:pt x="36149" y="0"/>
                  </a:moveTo>
                  <a:lnTo>
                    <a:pt x="993134" y="0"/>
                  </a:lnTo>
                  <a:cubicBezTo>
                    <a:pt x="1002722" y="0"/>
                    <a:pt x="1011916" y="3809"/>
                    <a:pt x="1018696" y="10588"/>
                  </a:cubicBezTo>
                  <a:cubicBezTo>
                    <a:pt x="1025475" y="17367"/>
                    <a:pt x="1029283" y="26562"/>
                    <a:pt x="1029283" y="36149"/>
                  </a:cubicBezTo>
                  <a:lnTo>
                    <a:pt x="1029283" y="564633"/>
                  </a:lnTo>
                  <a:cubicBezTo>
                    <a:pt x="1029283" y="574220"/>
                    <a:pt x="1025475" y="583415"/>
                    <a:pt x="1018696" y="590194"/>
                  </a:cubicBezTo>
                  <a:cubicBezTo>
                    <a:pt x="1011916" y="596973"/>
                    <a:pt x="1002722" y="600782"/>
                    <a:pt x="993134" y="600782"/>
                  </a:cubicBezTo>
                  <a:lnTo>
                    <a:pt x="36149" y="600782"/>
                  </a:lnTo>
                  <a:cubicBezTo>
                    <a:pt x="26562" y="600782"/>
                    <a:pt x="17367" y="596973"/>
                    <a:pt x="10588" y="590194"/>
                  </a:cubicBezTo>
                  <a:cubicBezTo>
                    <a:pt x="3809" y="583415"/>
                    <a:pt x="0" y="574220"/>
                    <a:pt x="0" y="564633"/>
                  </a:cubicBezTo>
                  <a:lnTo>
                    <a:pt x="0" y="36149"/>
                  </a:lnTo>
                  <a:cubicBezTo>
                    <a:pt x="0" y="26562"/>
                    <a:pt x="3809" y="17367"/>
                    <a:pt x="10588" y="10588"/>
                  </a:cubicBezTo>
                  <a:cubicBezTo>
                    <a:pt x="17367" y="3809"/>
                    <a:pt x="26562" y="0"/>
                    <a:pt x="36149" y="0"/>
                  </a:cubicBezTo>
                  <a:close/>
                </a:path>
              </a:pathLst>
            </a:custGeom>
            <a:blipFill>
              <a:blip r:embed="rId6"/>
              <a:stretch>
                <a:fillRect l="-426" t="0" r="-426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337911" y="666750"/>
            <a:ext cx="4283339" cy="2500140"/>
            <a:chOff x="0" y="0"/>
            <a:chExt cx="1029283" cy="6007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9283" cy="600782"/>
            </a:xfrm>
            <a:custGeom>
              <a:avLst/>
              <a:gdLst/>
              <a:ahLst/>
              <a:cxnLst/>
              <a:rect r="r" b="b" t="t" l="l"/>
              <a:pathLst>
                <a:path h="600782" w="1029283">
                  <a:moveTo>
                    <a:pt x="36149" y="0"/>
                  </a:moveTo>
                  <a:lnTo>
                    <a:pt x="993134" y="0"/>
                  </a:lnTo>
                  <a:cubicBezTo>
                    <a:pt x="1002722" y="0"/>
                    <a:pt x="1011916" y="3809"/>
                    <a:pt x="1018696" y="10588"/>
                  </a:cubicBezTo>
                  <a:cubicBezTo>
                    <a:pt x="1025475" y="17367"/>
                    <a:pt x="1029283" y="26562"/>
                    <a:pt x="1029283" y="36149"/>
                  </a:cubicBezTo>
                  <a:lnTo>
                    <a:pt x="1029283" y="564633"/>
                  </a:lnTo>
                  <a:cubicBezTo>
                    <a:pt x="1029283" y="574220"/>
                    <a:pt x="1025475" y="583415"/>
                    <a:pt x="1018696" y="590194"/>
                  </a:cubicBezTo>
                  <a:cubicBezTo>
                    <a:pt x="1011916" y="596973"/>
                    <a:pt x="1002722" y="600782"/>
                    <a:pt x="993134" y="600782"/>
                  </a:cubicBezTo>
                  <a:lnTo>
                    <a:pt x="36149" y="600782"/>
                  </a:lnTo>
                  <a:cubicBezTo>
                    <a:pt x="26562" y="600782"/>
                    <a:pt x="17367" y="596973"/>
                    <a:pt x="10588" y="590194"/>
                  </a:cubicBezTo>
                  <a:cubicBezTo>
                    <a:pt x="3809" y="583415"/>
                    <a:pt x="0" y="574220"/>
                    <a:pt x="0" y="564633"/>
                  </a:cubicBezTo>
                  <a:lnTo>
                    <a:pt x="0" y="36149"/>
                  </a:lnTo>
                  <a:cubicBezTo>
                    <a:pt x="0" y="26562"/>
                    <a:pt x="3809" y="17367"/>
                    <a:pt x="10588" y="10588"/>
                  </a:cubicBezTo>
                  <a:cubicBezTo>
                    <a:pt x="17367" y="3809"/>
                    <a:pt x="26562" y="0"/>
                    <a:pt x="36149" y="0"/>
                  </a:cubicBezTo>
                  <a:close/>
                </a:path>
              </a:pathLst>
            </a:custGeom>
            <a:blipFill>
              <a:blip r:embed="rId7"/>
              <a:stretch>
                <a:fillRect l="-755" t="0" r="-755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728998" y="3527532"/>
            <a:ext cx="8892252" cy="1309827"/>
            <a:chOff x="0" y="0"/>
            <a:chExt cx="11856336" cy="174643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710152" cy="641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89"/>
                </a:lnSpc>
                <a:spcBef>
                  <a:spcPct val="0"/>
                </a:spcBef>
              </a:pPr>
              <a:r>
                <a:rPr lang="en-US" b="true" sz="2990" spc="-44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User Login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835883"/>
              <a:ext cx="5711118" cy="8994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5"/>
                </a:lnSpc>
              </a:pPr>
              <a:r>
                <a:rPr lang="en-US" sz="2136" spc="-32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Simple interface for user authentication process.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145218" y="20649"/>
              <a:ext cx="5710152" cy="641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89"/>
                </a:lnSpc>
                <a:spcBef>
                  <a:spcPct val="0"/>
                </a:spcBef>
              </a:pPr>
              <a:r>
                <a:rPr lang="en-US" b="true" sz="2990" spc="-44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User Signup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145218" y="847007"/>
              <a:ext cx="5711118" cy="8994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5"/>
                </a:lnSpc>
              </a:pPr>
              <a:r>
                <a:rPr lang="en-US" sz="2136" spc="-32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Streamlined form for new user registration.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28998" y="8327274"/>
            <a:ext cx="4282614" cy="47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9"/>
              </a:lnSpc>
              <a:spcBef>
                <a:spcPct val="0"/>
              </a:spcBef>
            </a:pPr>
            <a:r>
              <a:rPr lang="en-US" b="true" sz="2990" spc="-4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Admin Login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28998" y="8942281"/>
            <a:ext cx="4283339" cy="676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5"/>
              </a:lnSpc>
            </a:pPr>
            <a:r>
              <a:rPr lang="en-US" sz="2136" spc="-3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Secure access for administrative functions.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37911" y="8327274"/>
            <a:ext cx="4282614" cy="47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9"/>
              </a:lnSpc>
              <a:spcBef>
                <a:spcPct val="0"/>
              </a:spcBef>
            </a:pPr>
            <a:r>
              <a:rPr lang="en-US" b="true" sz="2990" spc="-4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Admin Dashboard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37911" y="8942281"/>
            <a:ext cx="4283339" cy="676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5"/>
              </a:lnSpc>
            </a:pPr>
            <a:r>
              <a:rPr lang="en-US" sz="2136" spc="-3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Comprehensive controls for managing the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5F5F5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Future Enhancements for Minstrel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4909767"/>
            <a:ext cx="6886575" cy="347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Push</a:t>
            </a: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notifications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Song recommendation system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Cloud-based audio storage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Dark/light theme preference saved in database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Mobile-responsive enhanced version (with Layout Change)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D1D9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Enhanced Admin Dashboard </a:t>
            </a:r>
          </a:p>
          <a:p>
            <a:pPr algn="l" marL="0" indent="0" lvl="0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D3655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985254" y="4282075"/>
            <a:ext cx="8317491" cy="19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F5F5F5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Minstrel - Music Library</dc:description>
  <dc:identifier>DAHEM23mqqg</dc:identifier>
  <dcterms:modified xsi:type="dcterms:W3CDTF">2011-08-01T06:04:30Z</dcterms:modified>
  <cp:revision>1</cp:revision>
  <dc:title>Presentation - Minstrel - Music Library</dc:title>
</cp:coreProperties>
</file>